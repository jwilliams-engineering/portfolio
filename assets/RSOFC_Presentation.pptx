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2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68" r:id="rId15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44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661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66AF3-45A6-8AC6-F728-E09C73875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F5E3D1-F406-881A-821F-19018BFDB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41EBA-3A72-9B2F-CBE7-5601BAAFD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3EBD7-76AD-13F7-A713-0327F4DE5C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820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6B253-1CF9-35FA-F803-C107545C8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788D4-5D3A-9566-3B8C-EC600F74B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3867B-86E2-B3D3-10D4-4B272FD3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4DDA4-7BA3-DD50-6E49-B90A3BE13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0FF57-6B1A-3682-2219-4B33835C1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1445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C53B4-538F-088E-4525-FDAEDF195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D2E96-7BC0-7D65-18F1-08A8EBF72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E9BF2-ADB6-B9EE-A983-FE9F87D63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3D44F-C06B-C07B-0E2E-69B374E00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DC195-5910-3A78-924A-17EC7D231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562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52414-3C7B-966F-01EB-C577D49BA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93692-0DE3-DA7E-806A-AC15EA4CE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7A6F8-E682-61EA-7D84-7AD24AC61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3FBF2-D82F-385C-6019-DFA2E596E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D5BE7-3746-35F4-0F3F-445A77099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5651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85139-7574-CFEF-3896-5C83155DD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4F4E0-F76E-2D06-7A7A-FDA31F580D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89A55-0B19-9A51-5AF0-21319794A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B4E21-D3A7-A5CC-94B8-4E0688CF4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0F291-80E9-866C-7E45-C54B706CB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A240A-8468-8393-00FF-5792E9EAB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6150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367E-8187-5BD6-6815-49FE021EA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0C630-9D9F-1949-B0DF-BCA4F185F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7A9B8-4E1C-8162-CC51-6E483D075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0B5E7A-1D69-E00B-714D-50B31338E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A90946-CA46-1F3D-FB34-2FD02CAB32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1E268D-A943-436A-4F7C-CB4530F1E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763033-006C-10DD-601C-A021D2B9D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B00843-EEF2-2D83-75DA-1B3472C43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47251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5F2A-7D20-B365-A578-7354313B8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C4FB9A-17D1-5627-7E40-F064FC645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C2619-103B-F88D-31D8-B12CE7A3C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58D448-40DD-A3F0-7CFB-051898D1E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61253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5E91E1-7AAE-47E4-4C54-1DB80914B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DA41BC-B4D4-63E0-7BBF-66D98D78C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BE1A6-C07D-E567-FA36-D8240753E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38465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E8966-E98E-3E34-9961-921F7DC06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95021-BA07-B285-2B69-C7A88A2B7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83C9FE-9CCA-F6ED-4BA2-DC6559586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BF9E4-E36A-0298-E962-40DC8D8A2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C06E6-2F00-417D-9CAA-6323F8B81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F193D-1655-F9CE-15BA-74D6CB0DF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03453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973C-1406-C006-BEEF-906B8293E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3201CC-22F6-229A-0CB1-621ED891CD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BF2D1-548B-6B79-86C4-D516A70C0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83B7D-E13D-C0C9-BA8F-0CC3AE24E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A0B05-1AAF-4971-35D4-966A29F0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18C5A-A668-3B48-D59A-A446AE7A7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0311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00924-E2AA-1088-F58E-2A2ECBBEA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40212-9A55-F757-FA31-0054BDC64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E1168-9BE1-7EAD-67D5-FE99E809F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4887A-3F46-CE22-C327-CD7742261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9C0CE-52D8-4609-39AC-664BD5A46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63999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38CCD7-11B4-5504-D00C-B5E4A263A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271F7E-BB76-8ACF-6D6E-8BBB5FAE4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5B022-6940-C5C7-FC70-535639F99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67E6A-9AC7-6B16-B908-307DDF706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5EBBA-D757-B3BD-4365-6CF0A6D67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43512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49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ABD177-0DD4-0248-E611-8AD3D6CF9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2727D-601B-1AC5-3385-3031CF54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CE2E9-A337-4480-AC18-C3EAA283DA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73887-BFCB-B161-E498-1B169986CC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2CEEA-9E44-FC7A-9EE6-3D25464DD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1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jpeg"/><Relationship Id="rId4" Type="http://schemas.openxmlformats.org/officeDocument/2006/relationships/image" Target="../media/image7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693408" y="450342"/>
            <a:ext cx="2286000" cy="2286000"/>
          </a:xfrm>
          <a:prstGeom prst="ellipse">
            <a:avLst/>
          </a:prstGeom>
          <a:solidFill>
            <a:srgbClr val="C1440E">
              <a:alpha val="25000"/>
            </a:srgbClr>
          </a:solidFill>
          <a:ln w="254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59168" y="816102"/>
            <a:ext cx="1554480" cy="1554480"/>
          </a:xfrm>
          <a:prstGeom prst="ellipse">
            <a:avLst/>
          </a:prstGeom>
          <a:solidFill>
            <a:srgbClr val="E8733A">
              <a:alpha val="30000"/>
            </a:srgbClr>
          </a:solidFill>
          <a:ln w="12700">
            <a:solidFill>
              <a:srgbClr val="E87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1188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Reversible Solid Oxide Cells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E87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Mars Power Solution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3657600" cy="36576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Joshua Williams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EGEE 420 - Hydrogen &amp; Fuel Cells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Dr. Yourey  |  March 14, 2026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The Mars Challenge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0789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1440E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95%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8912" y="1645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Atmosphere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" y="1883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6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Carbon Dioxide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64992" y="10789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1440E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&lt;1%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64992" y="1645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Surface Pressure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64992" y="1883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6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of Earth's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91072" y="10789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1440E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-60°C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91072" y="1645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Avg Temperature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91072" y="1883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6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Extreme cold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2514600"/>
            <a:ext cx="5303520" cy="2286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Dust storms last weeks to months - solar generation drops up to 99%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NASA's Opportunity rover lost contact after the 2018 global dust storm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Every kg launched from Earth requires 12-13 kg placed in low Earth orbit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crewed base of 4-6 needs 21-25 kW of continuous power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852160" y="2514600"/>
            <a:ext cx="3017520" cy="2286000"/>
          </a:xfrm>
          <a:prstGeom prst="rect">
            <a:avLst/>
          </a:prstGeom>
          <a:solidFill>
            <a:srgbClr val="E8E4D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52160" y="25146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surface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atmosphere diagram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(Fig. 1)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733C90-A5B6-E1E3-484D-3990064C3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514600"/>
            <a:ext cx="3151163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Why Standard Fuel Cells Fail on Mars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023360" cy="384048"/>
          </a:xfrm>
          <a:prstGeom prst="rect">
            <a:avLst/>
          </a:prstGeom>
          <a:solidFill>
            <a:srgbClr val="C1440E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PEM Fuel Cell - Problems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657600" cy="2834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Requires pure hydrogen - scarce on Mars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Operates at ~80°C - too low for CO₂ processing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 contamination rapidly degrades performance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Cannot use Martian atmosphere as a fuel source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1002147"/>
            <a:ext cx="4297680" cy="384048"/>
          </a:xfrm>
          <a:prstGeom prst="rect">
            <a:avLst/>
          </a:prstGeom>
          <a:solidFill>
            <a:srgbClr val="C1440E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C1440E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663440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tifakt Element Medium" panose="020B0603050000020004" pitchFamily="34" charset="0"/>
                <a:cs typeface="Arial" panose="020B0604020202020204" pitchFamily="34" charset="0"/>
              </a:rPr>
              <a:t>Batteries - The Math Fails</a:t>
            </a:r>
            <a:endParaRPr lang="en-US" sz="1400" dirty="0">
              <a:latin typeface="Arial" panose="020B0604020202020204" pitchFamily="34" charset="0"/>
              <a:ea typeface="Artifakt Element Medium" panose="020B06030500000200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63440" y="1508760"/>
            <a:ext cx="4023360" cy="2834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Hundreds of metric tons needed for a month-long storm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Launching 1 kg to Mars = 12-13 kg to LEO first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Battery mass at that scale is mission-prohibitive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systems-level solution using local resources is required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9">
            <a:extLst>
              <a:ext uri="{FF2B5EF4-FFF2-40B4-BE49-F238E27FC236}">
                <a16:creationId xmlns:a16="http://schemas.microsoft.com/office/drawing/2014/main" id="{9B7FFEEF-75A4-91EA-0D89-3ECD19BB69C5}"/>
              </a:ext>
            </a:extLst>
          </p:cNvPr>
          <p:cNvSpPr/>
          <p:nvPr/>
        </p:nvSpPr>
        <p:spPr>
          <a:xfrm>
            <a:off x="274320" y="1037844"/>
            <a:ext cx="2286000" cy="1453896"/>
          </a:xfrm>
          <a:prstGeom prst="rect">
            <a:avLst/>
          </a:prstGeom>
          <a:solidFill>
            <a:srgbClr val="FFFFFF"/>
          </a:solidFill>
          <a:ln w="254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4AFFDB74-F46B-4A7A-FA35-A0F03F478515}"/>
              </a:ext>
            </a:extLst>
          </p:cNvPr>
          <p:cNvSpPr/>
          <p:nvPr/>
        </p:nvSpPr>
        <p:spPr>
          <a:xfrm>
            <a:off x="2788920" y="1037844"/>
            <a:ext cx="2286000" cy="1453896"/>
          </a:xfrm>
          <a:prstGeom prst="rect">
            <a:avLst/>
          </a:prstGeom>
          <a:solidFill>
            <a:srgbClr val="FFFFFF"/>
          </a:solidFill>
          <a:ln w="254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What is a Reversible Solid Oxide Fuel Cell?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1440E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600-900°C</a:t>
            </a:r>
            <a:endParaRPr lang="en-US" sz="2400" dirty="0">
              <a:solidFill>
                <a:srgbClr val="C1440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Operating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Temperature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88920" y="1143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1440E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YSZ</a:t>
            </a:r>
            <a:endParaRPr lang="en-US" sz="2400" dirty="0">
              <a:solidFill>
                <a:srgbClr val="C1440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8892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Ceramic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Electrolyte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03520" y="1042416"/>
            <a:ext cx="3566160" cy="1449324"/>
          </a:xfrm>
          <a:prstGeom prst="rect">
            <a:avLst/>
          </a:prstGeom>
          <a:solidFill>
            <a:srgbClr val="FFFFFF"/>
          </a:solidFill>
          <a:ln w="254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94960" y="119786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1440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TWO MODES - ONE DEVICE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94960" y="144475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Fuel Cell Mode: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in - electricity out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Electrolysis Mode: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 - fuel + O₂ out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2651760"/>
            <a:ext cx="5486400" cy="2286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Runs on CO₂ and CO - perfect for the Martian atmosphere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 expensive platinum catalysts needed at high temperature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Can produce methane, oxygen, and water from a single device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Waste heat at 800°C offsets habitat heating - 81% total efficiency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43600" y="2660552"/>
            <a:ext cx="2926080" cy="2240280"/>
          </a:xfrm>
          <a:prstGeom prst="rect">
            <a:avLst/>
          </a:prstGeom>
          <a:solidFill>
            <a:srgbClr val="E8E4D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0" y="2651760"/>
            <a:ext cx="292608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SOFC diagram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FF7FA8-6450-5771-BA18-EFF25F0992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78" r="10986"/>
          <a:stretch>
            <a:fillRect/>
          </a:stretch>
        </p:blipFill>
        <p:spPr>
          <a:xfrm>
            <a:off x="5897516" y="2642968"/>
            <a:ext cx="3018248" cy="2294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RSOFC Operating Principle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023360" cy="347472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Electrolysis Mode (Day / Surplus)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749040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CO₂ fed in split at cathode into O²⁻ + CO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O²⁻ ions migrate through YSZ electrolyte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O₂ released at anode - stored for life support/propellant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347472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C1440E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Fuel Cell Mode (Night / Storm)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63440" y="1417320"/>
            <a:ext cx="4023360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Stored CO or CH₄ fed to anode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 + O²⁻ → CO₂ + 2e⁻  (electricity released)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CH₄ + 4O²⁻ → CO₂ + 2H₂O + 8e⁻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4688938" cy="2023110"/>
          </a:xfrm>
          <a:prstGeom prst="rect">
            <a:avLst/>
          </a:prstGeom>
          <a:solidFill>
            <a:schemeClr val="bg1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127248"/>
            <a:ext cx="4462096" cy="18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YSZ Electrolyte: </a:t>
            </a: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Yttria-stabilized zirconia heated to 600-900°C opens its crystal structure, creating oxygen vacancies that allow O²⁻ ions to migrate - enabling both power generation and fuel production.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AFD81BB-9CAC-C1ED-0DA3-B5ED6058E9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19346" y="3046638"/>
            <a:ext cx="2721219" cy="1966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The Reversibility Advantage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5394960" cy="2743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Same ceramic electrolyte, electrodes, and temperature - two completely different jobs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Eliminates the need to launch separate electrolyzer AND fuel cell systems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DOE testing: 11,900+ hours, 6,000+ mode switches equivalent to 15+ years of daily operation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Cycles 10.5 hrs electrolysis / 12.5 hrs fuel cell per day mirrors a solar-integrated Mars schedule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0" y="1005840"/>
            <a:ext cx="2926080" cy="1188720"/>
          </a:xfrm>
          <a:prstGeom prst="rect">
            <a:avLst/>
          </a:prstGeom>
          <a:solidFill>
            <a:schemeClr val="bg1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0" y="10515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11,900+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0" y="1691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Hours DOE tested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43600" y="2331720"/>
            <a:ext cx="2926080" cy="1188720"/>
          </a:xfrm>
          <a:prstGeom prst="rect">
            <a:avLst/>
          </a:prstGeom>
          <a:solidFill>
            <a:schemeClr val="bg1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0" y="2377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6,000+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0" y="30175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Mode-switch cycles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chemeClr val="bg1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6719" y="4137660"/>
            <a:ext cx="713056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3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Key insight</a:t>
            </a: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</a:t>
            </a: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One device replaces two. On a mission where every kilogram to Mars costs 12-13 kg in LEO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MOXIE: Proof of Concept on Mars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1280160"/>
          </a:xfrm>
          <a:prstGeom prst="rect">
            <a:avLst/>
          </a:prstGeom>
          <a:solidFill>
            <a:schemeClr val="bg1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122g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Total oxygen produced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450592" y="1005840"/>
            <a:ext cx="2011680" cy="1280160"/>
          </a:xfrm>
          <a:prstGeom prst="rect">
            <a:avLst/>
          </a:prstGeom>
          <a:solidFill>
            <a:schemeClr val="bg1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50592" y="1051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16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50592" y="17373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Successful runs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26864" y="1005840"/>
            <a:ext cx="2011680" cy="1280160"/>
          </a:xfrm>
          <a:prstGeom prst="rect">
            <a:avLst/>
          </a:prstGeom>
          <a:solidFill>
            <a:schemeClr val="bg1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26864" y="1051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98%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26864" y="17373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Oxygen purity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03136" y="1005840"/>
            <a:ext cx="2011680" cy="1280160"/>
          </a:xfrm>
          <a:prstGeom prst="rect">
            <a:avLst/>
          </a:prstGeom>
          <a:solidFill>
            <a:schemeClr val="bg1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03136" y="1051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2×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03136" y="17373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NASA's original target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" y="2423160"/>
            <a:ext cx="5029200" cy="24688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How MOXIE worked: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Collected Martian air through HEPA filter → compressed → heated to 800°C → fed into SOXE assembly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CO₂ split at nickel-ceramic cathode into O²⁻ ions + CO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O²⁻ ions conducted through ScSZ electrolyte recombined as pure O₂ at the anode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Operated April 2021 - September 2023 aboard Perseverance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F1F63B1-CB8F-DAAC-DF8C-9D7E5E4DBB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69" r="6122"/>
          <a:stretch>
            <a:fillRect/>
          </a:stretch>
        </p:blipFill>
        <p:spPr>
          <a:xfrm>
            <a:off x="5397189" y="2548128"/>
            <a:ext cx="3630837" cy="23286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From MOXIE to "Big Atmospheric MOXIE" (BAM)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60704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931920" cy="365760"/>
          </a:xfrm>
          <a:prstGeom prst="rect">
            <a:avLst/>
          </a:prstGeom>
          <a:solidFill>
            <a:srgbClr val="C1440E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MOXIE (Prototype)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657600" cy="2286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~12 g O₂ per hour (peak)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Toaster-sized device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Degraded due to thermal cycling (rover power limits)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Proof of concept not a continuous operation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2834640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36576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C1440E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BAM (Scale-Up Goal)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63440" y="1463040"/>
            <a:ext cx="4023360" cy="2286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 kg O₂ per hour 250× more than MOXIE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9,000+ kg system consuming ~27 kW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Continuous operation eliminates thermal cycling damage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31 tons O₂ needed for Mars Ascent Module propellant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solidFill>
            <a:schemeClr val="bg1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041648"/>
            <a:ext cx="8229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Without ISRU: </a:t>
            </a: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Bringing 31 tons of O₂ from Earth, launching 500 tons to LEO.   </a:t>
            </a: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BAM makes that unnecessary.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The Sabatier Reaction: Closing the Loop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777240"/>
          </a:xfrm>
          <a:prstGeom prst="rect">
            <a:avLst/>
          </a:prstGeom>
          <a:solidFill>
            <a:schemeClr val="tx1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95360" cy="7772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CO₂  +  4H₂  →  CH₄  +  2H₂O   (at ~300°C with nickel catalyst)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3787726" cy="23774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Exothermic reaction - the heat produced can warm the Sabatier reactor inputs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Water produced can be electrolyzed back into H₂ + O₂ - partial closed loop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Hydrogen sourced from Martian water ice at the poles and mid-latitudes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Outputs CH₄ + O₂ - the exact methalox propellants SpaceX Raptor engines use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solidFill>
            <a:schemeClr val="bg1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446227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Goal</a:t>
            </a: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Land Starship empty. Manufacture propellant on Mars. Launch home without bringing fuel from Earth.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D948C7-D9D2-9F7C-9086-87A484472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519" y="2005604"/>
            <a:ext cx="4542829" cy="22067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/>
          <p:cNvSpPr/>
          <p:nvPr/>
        </p:nvSpPr>
        <p:spPr>
          <a:xfrm>
            <a:off x="672998" y="1019556"/>
            <a:ext cx="3312941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Power Management &amp; System Efficiency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12727" y="1019556"/>
            <a:ext cx="3312941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71368" y="1088664"/>
            <a:ext cx="183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Solar Arrays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4149" y="1374238"/>
            <a:ext cx="24706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Primary source on clear days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Drops up to 99% during dust storms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554100" y="1120140"/>
            <a:ext cx="24301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Kilopower Fission Reactor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78279" y="1444752"/>
            <a:ext cx="23875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Uranium core weather-independent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NASA tested up to 10 kW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" y="2514600"/>
            <a:ext cx="5669280" cy="1645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Crew of 6 needs only 0.2 kg O₂/hr to breathe a fraction of BAM's 3 kg/hr output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Surplus O₂ and CH₄ flow directly into propellant tanks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800°C waste heat captured heats habitat + preheats Sabatier inputs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26480" y="2514600"/>
            <a:ext cx="2743200" cy="1645920"/>
          </a:xfrm>
          <a:prstGeom prst="rect">
            <a:avLst/>
          </a:prstGeom>
          <a:solidFill>
            <a:schemeClr val="bg1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2606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81%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26480" y="34564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Total system efficiency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(with waste heat recovery)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4297680"/>
            <a:ext cx="8595360" cy="548640"/>
          </a:xfrm>
          <a:prstGeom prst="rect">
            <a:avLst/>
          </a:prstGeom>
          <a:solidFill>
            <a:schemeClr val="bg1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431596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Standalone SOFC electrical efficiency: 39-54%  - With waste heat recovery: 81% - Every extra % matters when every watt must be generated locally.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Engineering Challenges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07899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Thermal Insulation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8912" y="1371600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Keeping ceramics at 800°C in a -60°C environment requires advanced insulation systems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335061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237744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Chromium Poisoning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8912" y="267004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Chromium evaporation from metallic interconnects poisons cathode performance gradually over time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3633509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3675888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80,000+ Hour Lifespan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8912" y="3866681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Interconnects must survive full mission duration not yet demonstrated at mission scale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28032" y="107899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Martian Dust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28032" y="1371600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Fine, electrostatically charged dust requires filter systems that operate for years maintenance-free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63440" y="230428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28032" y="2377440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Low Atmospheric Pressure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28032" y="2670048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~600 Pa requires significant gas compression accounted for ~40% of MOXIE's power draw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CAB23158-320C-C495-7937-E2979823A5A0}"/>
              </a:ext>
            </a:extLst>
          </p:cNvPr>
          <p:cNvSpPr/>
          <p:nvPr/>
        </p:nvSpPr>
        <p:spPr>
          <a:xfrm>
            <a:off x="4663440" y="360273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EFB85829-77F6-65BD-A1A6-26600BD63C1A}"/>
              </a:ext>
            </a:extLst>
          </p:cNvPr>
          <p:cNvSpPr/>
          <p:nvPr/>
        </p:nvSpPr>
        <p:spPr>
          <a:xfrm>
            <a:off x="4828032" y="3683449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Seal and Gas Leakage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4A4627D9-8489-4D64-CB08-D79610C8B98B}"/>
              </a:ext>
            </a:extLst>
          </p:cNvPr>
          <p:cNvSpPr/>
          <p:nvPr/>
        </p:nvSpPr>
        <p:spPr>
          <a:xfrm>
            <a:off x="4828032" y="3866681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800°C, seals between ceramic and metal components are prone to failure, risking efficiency loss and dangerous fuel-air mixing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D40F07-39BE-0C25-E12A-B021610A48C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FDB77-388B-371E-5B6A-0B19444FBE4A}"/>
              </a:ext>
            </a:extLst>
          </p:cNvPr>
          <p:cNvSpPr txBox="1"/>
          <p:nvPr/>
        </p:nvSpPr>
        <p:spPr>
          <a:xfrm>
            <a:off x="351972" y="127010"/>
            <a:ext cx="32850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Conclusion</a:t>
            </a: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AE64605-C828-6861-8053-F78E02915465}"/>
              </a:ext>
            </a:extLst>
          </p:cNvPr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2EC5BA4-13E5-ABD0-1E72-34CACA3A98EF}"/>
              </a:ext>
            </a:extLst>
          </p:cNvPr>
          <p:cNvSpPr/>
          <p:nvPr/>
        </p:nvSpPr>
        <p:spPr>
          <a:xfrm>
            <a:off x="457200" y="1350498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MOXIE proved it works: 16 runs, 122g O₂, 98% purity, 2× NASA's goal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Future development: 80,000+ hr ceramics, better interconnects, full fission integration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Environmental impact: Every kg produced on Mars = one less kg launched from Earth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 harmful byproducts: consumes CO₂, outputs exactly what humans need to survive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The RSOFC turns Mars' atmosphere from a threat into a supply chain.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400"/>
              </a:spcAft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123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6ECF0-5D17-B945-BB42-DB9BFB799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A95269-5F08-94D0-B871-EDC7F28ADE3F}"/>
              </a:ext>
            </a:extLst>
          </p:cNvPr>
          <p:cNvSpPr/>
          <p:nvPr/>
        </p:nvSpPr>
        <p:spPr>
          <a:xfrm>
            <a:off x="0" y="-48358"/>
            <a:ext cx="9144000" cy="77724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A90CE8-9322-207A-F9B8-E39A34466108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28719DD-ED03-1B9E-83A9-2118CFD3FDA3}"/>
              </a:ext>
            </a:extLst>
          </p:cNvPr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F80BE4-3EA9-E464-5981-86F13B16CA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83" t="20397" r="2637"/>
          <a:stretch>
            <a:fillRect/>
          </a:stretch>
        </p:blipFill>
        <p:spPr>
          <a:xfrm rot="5400000">
            <a:off x="-458198" y="1740471"/>
            <a:ext cx="3770378" cy="24741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8F366A-26FF-8E19-10B6-317C649883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824" t="31519" r="16191" b="26357"/>
          <a:stretch>
            <a:fillRect/>
          </a:stretch>
        </p:blipFill>
        <p:spPr>
          <a:xfrm>
            <a:off x="5640264" y="1092360"/>
            <a:ext cx="3174023" cy="38274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D58864-78AF-382F-5C3A-7F8872081F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478" t="12393" b="15926"/>
          <a:stretch>
            <a:fillRect/>
          </a:stretch>
        </p:blipFill>
        <p:spPr>
          <a:xfrm rot="5400000">
            <a:off x="2232044" y="1678248"/>
            <a:ext cx="3823042" cy="265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50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 Hoffman et al. (2022). Mars Oxygen ISRU Experiment (MOXIE). Science Advances, 8(35).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2.  Hoffman et al. (2023). 18 months of MOXIE operations on Mars. Acta Astronautica, 210.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3.  NASA Jet Propulsion Laboratory. (2023). NASA's oxygen-generating experiment MOXIE completes Mars mission.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4.  Petri, R. (2012). Advanced materials for RSOFC dual-mode operation. DOE / Versa Power Systems.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5.  Han et al. (2007). Fabrication and properties of a YSZ electrolyte for SOFCs. J. Power Sources, 165(2).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324612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6.  Sabbaghi et al. (2025). Economic viability of SOFC-integrated energy system with CO₂ capture. Int. J. Hydrogen Energy, 144.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370332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7.  Guan et al. (2006). High-performance flexible reversible SOFC. DOE Final Technical Report.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416052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8.  Reddy, M. J. (2023). Metallic materials for SOFCs. Doctoral thesis, Chalmers University.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" y="461772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9.  NASA. (2023). Kilopower. NASA Space Technology Mission Directorate.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</TotalTime>
  <Words>1311</Words>
  <Application>Microsoft Office PowerPoint</Application>
  <PresentationFormat>On-screen Show (16:9)</PresentationFormat>
  <Paragraphs>161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Reversible Solid Oxide Cells as a Mars Power Solution</dc:title>
  <dc:subject>PptxGenJS Presentation</dc:subject>
  <dc:creator>Joshua Williams</dc:creator>
  <cp:lastModifiedBy>Williams, Joshua John</cp:lastModifiedBy>
  <cp:revision>8</cp:revision>
  <dcterms:created xsi:type="dcterms:W3CDTF">2026-04-12T22:34:18Z</dcterms:created>
  <dcterms:modified xsi:type="dcterms:W3CDTF">2026-04-14T16:52:48Z</dcterms:modified>
</cp:coreProperties>
</file>